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B49CB"/>
            </a:solidFill>
          </c:spPr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0.8333</c:v>
                </c:pt>
                <c:pt idx="1">
                  <c:v>0.8333</c:v>
                </c:pt>
                <c:pt idx="2">
                  <c:v>0.8333</c:v>
                </c:pt>
                <c:pt idx="3">
                  <c:v>0.8333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CV accuracy</c:v>
                </c:pt>
              </c:strCache>
            </c:strRef>
          </c:tx>
          <c:spPr>
            <a:solidFill>
              <a:srgbClr val="8AA4D6"/>
            </a:solidFill>
          </c:spPr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0.8464</c:v>
                </c:pt>
                <c:pt idx="1">
                  <c:v>0.8482</c:v>
                </c:pt>
                <c:pt idx="2">
                  <c:v>0.8768</c:v>
                </c:pt>
                <c:pt idx="3">
                  <c:v>0.8482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jupyter-labs-spacex-data-collection-api-v2.ipyn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jupyter-labs-webscraping.ipyn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labs-jupyter-spacex-Data%20wrangling-v2.ipynb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jupyter-labs-eda-dataviz-v2.ipynb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jupyter-labs-eda-sql-coursera_sqllite.ipyn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lab-jupyter-launch-site-location-v2.ipynb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spacex_dash_app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cosroquerosa/ibm-data-science-capstone/blob/main/SpaceX-Machine-Learning-Prediction-Part-5-v1.ipyn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github.com/marcosroquerosa/ibm-data-science-capstone/blob/main/jupyter-labs-spacex-data-collection-api-v2.ipynb" TargetMode="External"/><Relationship Id="rId5" Type="http://schemas.openxmlformats.org/officeDocument/2006/relationships/hyperlink" Target="https://github.com/marcosroquerosa/ibm-data-science-capstone/blob/main/jupyter-labs-webscraping.ipynb" TargetMode="External"/><Relationship Id="rId6" Type="http://schemas.openxmlformats.org/officeDocument/2006/relationships/hyperlink" Target="https://github.com/marcosroquerosa/ibm-data-science-capstone/blob/main/labs-jupyter-spacex-Data%20wrangling-v2.ipynb" TargetMode="External"/><Relationship Id="rId7" Type="http://schemas.openxmlformats.org/officeDocument/2006/relationships/hyperlink" Target="https://github.com/marcosroquerosa/ibm-data-science-capstone/blob/main/jupyter-labs-eda-sql-coursera_sqllite.ipynb" TargetMode="External"/><Relationship Id="rId8" Type="http://schemas.openxmlformats.org/officeDocument/2006/relationships/hyperlink" Target="https://github.com/marcosroquerosa/ibm-data-science-capstone/blob/main/jupyter-labs-eda-dataviz-v2.ipynb" TargetMode="External"/><Relationship Id="rId9" Type="http://schemas.openxmlformats.org/officeDocument/2006/relationships/hyperlink" Target="https://github.com/marcosroquerosa/ibm-data-science-capstone/blob/main/lab-jupyter-launch-site-location-v2.ipynb" TargetMode="External"/><Relationship Id="rId10" Type="http://schemas.openxmlformats.org/officeDocument/2006/relationships/hyperlink" Target="https://github.com/marcosroquerosa/ibm-data-science-capstone/blob/main/spacex_dash_app.py" TargetMode="External"/><Relationship Id="rId11" Type="http://schemas.openxmlformats.org/officeDocument/2006/relationships/hyperlink" Target="https://github.com/marcosroquerosa/ibm-data-science-capstone/blob/main/SpaceX-Machine-Learning-Prediction-Part-5-v1.ipynb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Marcos Roque Rosa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October 19,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1481328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0B49CB"/>
                </a:solidFill>
                <a:latin typeface="Arial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1938528"/>
            <a:ext cx="512064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Collected launch data from the SpaceX REST API and Wikipedia (web scraping)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Cleaned the data and built a landing label: Class = 1 if the first stage landed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Explored it with pandas/seaborn charts and SQL (SQLite)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Built an interactive Folium map and a Plotly Dash dashboard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Trained and tuned 4 classifiers (LogReg, SVM, Decision Tree, KNN) with 10-fold grid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4813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0B49CB"/>
                </a:solidFill>
                <a:latin typeface="Arial"/>
              </a:rPr>
              <a:t>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84248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B49CB"/>
                </a:solidFill>
                <a:latin typeface="Arial"/>
              </a:rPr>
              <a:t>90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270"/>
                </a:solidFill>
                <a:latin typeface="Arial"/>
              </a:rPr>
              <a:t>Falcon 9 launches
2010 – 2020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984248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9D55"/>
                </a:solidFill>
                <a:latin typeface="Arial"/>
              </a:rPr>
              <a:t>66.7%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270"/>
                </a:solidFill>
                <a:latin typeface="Arial"/>
              </a:rPr>
              <a:t>first stages
landed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984248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B49CB"/>
                </a:solidFill>
                <a:latin typeface="Arial"/>
              </a:rPr>
              <a:t>83.3%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270"/>
                </a:solidFill>
                <a:latin typeface="Arial"/>
              </a:rPr>
              <a:t>test accuracy,
all 4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310128"/>
            <a:ext cx="516636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Landing success rose from 0% (2010–13) to 84–90% (2019–20)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KSC LC-39A is the strongest site: 77% success, 41.7% of all successful landings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SSO, VLEO and LEO missions land most often; GTO is hardest (52%)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The Decision Tree has the best cross-validation accuracy (87.7%)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8096" y="1481328"/>
            <a:ext cx="51663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5" y="1664208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0B49CB"/>
                </a:solidFill>
                <a:latin typeface="Arial"/>
              </a:rPr>
              <a:t>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2167128"/>
            <a:ext cx="4754880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Arial"/>
              </a:rPr>
              <a:t>SpaceX advertises Falcon 9 launches at about $62 million; other providers charge upward of $165 million.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Arial"/>
              </a:rPr>
              <a:t>Most of the saving comes from landing and reusing the first stage.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Arial"/>
              </a:rPr>
              <a:t>If we can predict whether the first stage will land, we can estimate the cost of a launch — useful for a new company ("Space Y") bidding against SpaceX.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81328"/>
            <a:ext cx="51663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1664208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0B49CB"/>
                </a:solidFill>
                <a:latin typeface="Arial"/>
              </a:rPr>
              <a:t>Questions we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67128"/>
            <a:ext cx="4754880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Which factors — launch site, payload mass, orbit, booster version, experience — drive a successful landing?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How have landing outcomes changed over time?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Where are launch sites located, and why there?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Arial"/>
              </a:rPr>
              <a:t>Can a machine-learning model predict the landing outcome, and which model works best?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143560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B49CB"/>
                </a:solidFill>
                <a:latin typeface="Arial"/>
              </a:rPr>
              <a:t>Executive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1892808"/>
            <a:ext cx="10652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1  Data collection</a:t>
            </a:r>
            <a:r>
              <a:rPr sz="1350" b="0">
                <a:solidFill>
                  <a:srgbClr val="262626"/>
                </a:solidFill>
                <a:latin typeface="Arial"/>
              </a:rPr>
              <a:t>     SpaceX REST API (launches, rockets, launchpads, payloads, cores) and web scraping of Wikipedia's Falcon 9 launch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2679192"/>
            <a:ext cx="10652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2  Data wrangling</a:t>
            </a:r>
            <a:r>
              <a:rPr sz="1350" b="0">
                <a:solidFill>
                  <a:srgbClr val="262626"/>
                </a:solidFill>
                <a:latin typeface="Arial"/>
              </a:rPr>
              <a:t>     Filtered to Falcon 9, imputed missing payload masses, and turned 8 landing outcomes into a binary Class label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465576"/>
            <a:ext cx="10652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3  EDA</a:t>
            </a:r>
            <a:r>
              <a:rPr sz="1350" b="0">
                <a:solidFill>
                  <a:srgbClr val="262626"/>
                </a:solidFill>
                <a:latin typeface="Arial"/>
              </a:rPr>
              <a:t>     Scatter, bar and line charts with seaborn/matplotlib; 10 SQL queries on 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251960"/>
            <a:ext cx="10652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4  Interactive visual analytics</a:t>
            </a:r>
            <a:r>
              <a:rPr sz="1350" b="0">
                <a:solidFill>
                  <a:srgbClr val="262626"/>
                </a:solidFill>
                <a:latin typeface="Arial"/>
              </a:rPr>
              <a:t>     Folium map of sites, outcomes and proximities; Plotly Dash dashboard with dropdown and payload slider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5038344"/>
            <a:ext cx="106527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5  Predictive analysis</a:t>
            </a:r>
            <a:r>
              <a:rPr sz="1350" b="0">
                <a:solidFill>
                  <a:srgbClr val="262626"/>
                </a:solidFill>
                <a:latin typeface="Arial"/>
              </a:rPr>
              <a:t>     Standardised features, 80/20 split, GridSearchCV (cv=10) on LogReg, SVM, Decision Tree and KNN; compared on test accuracy and 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" y="1481328"/>
            <a:ext cx="106070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Arial"/>
              </a:rPr>
              <a:t>Two public sources were combined into launch-level datasets of Falcon 9 flights: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37744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49CB"/>
                </a:solidFill>
                <a:latin typeface="Arial"/>
              </a:rPr>
              <a:t>SpaceX REST API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api.spacexdata.com/v4 — launches plus rocket, launchpad, payload and core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411480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49CB"/>
                </a:solidFill>
                <a:latin typeface="Arial"/>
              </a:rPr>
              <a:t>Wikipedia (web scraping)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'List of Falcon 9 and Falcon Heavy launches', revision of 9 June 2021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37744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49CB"/>
                </a:solidFill>
                <a:latin typeface="Arial"/>
              </a:rPr>
              <a:t>Parse &amp; normalise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json_normalize, BeautifulSoup, helper functions; one row per launch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377440"/>
            <a:ext cx="31089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49CB"/>
                </a:solidFill>
                <a:latin typeface="Arial"/>
              </a:rPr>
              <a:t>Falcon 9 dataset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90 launches × 17 features (API)
121 launches × 11 columns (Wikipedia)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B6270"/>
                </a:solidFill>
                <a:latin typeface="Arial"/>
              </a:rPr>
              <a:t>→ dataset_part_1.csv
→ spacex_web_scraped.csv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77056" y="3108960"/>
            <a:ext cx="832104" cy="45720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877056" y="4389120"/>
            <a:ext cx="832104" cy="45720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3977639"/>
            <a:ext cx="868680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81328"/>
            <a:ext cx="493776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GET /v4/launches/past and decode the JSON with json_normalize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Keep single-core, single-payload launches up to 13 Nov 2020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Look up each ID: rockets → booster name; launchpads → site, lat/long; payloads → mass, orbit; cores → outcome, block, reuse, serial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Keep Falcon 9 only (90 launches) and replace the 5 missing payload masses with the mean (6,105 kg)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074920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SpaceX API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394960"/>
            <a:ext cx="4937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0" i="0">
                <a:solidFill>
                  <a:srgbClr val="5B6270"/>
                </a:solidFill>
                <a:latin typeface="Arial"/>
              </a:rPr>
              <a:t>The output matches IBM's reference dataset_part_1.csv exactly.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81328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requests.get</a:t>
            </a:r>
            <a:r>
              <a:rPr sz="1100" b="0">
                <a:solidFill>
                  <a:srgbClr val="262626"/>
                </a:solidFill>
                <a:latin typeface="Arial"/>
              </a:rPr>
              <a:t>  launches/past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55380" y="1938528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0760" y="2093976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json_normalize</a:t>
            </a:r>
            <a:r>
              <a:rPr sz="1100" b="0">
                <a:solidFill>
                  <a:srgbClr val="262626"/>
                </a:solidFill>
                <a:latin typeface="Arial"/>
              </a:rPr>
              <a:t>  → DataFrame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55380" y="2551176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2706624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Filter</a:t>
            </a:r>
            <a:r>
              <a:rPr sz="1100" b="0">
                <a:solidFill>
                  <a:srgbClr val="262626"/>
                </a:solidFill>
                <a:latin typeface="Arial"/>
              </a:rPr>
              <a:t>  1 core, 1 payload, ≤ 2020-11-13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5380" y="3163824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3319272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API lookups</a:t>
            </a:r>
            <a:r>
              <a:rPr sz="1100" b="0">
                <a:solidFill>
                  <a:srgbClr val="262626"/>
                </a:solidFill>
                <a:latin typeface="Arial"/>
              </a:rPr>
              <a:t>  rockets · launchpads · payloads · cores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5380" y="3776472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80760" y="393192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Build DataFrame</a:t>
            </a:r>
            <a:r>
              <a:rPr sz="1100" b="0">
                <a:solidFill>
                  <a:srgbClr val="262626"/>
                </a:solidFill>
                <a:latin typeface="Arial"/>
              </a:rPr>
              <a:t>  17 columns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5380" y="4389120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80760" y="4544568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Falcon 9 only</a:t>
            </a:r>
            <a:r>
              <a:rPr sz="1100" b="0">
                <a:solidFill>
                  <a:srgbClr val="262626"/>
                </a:solidFill>
                <a:latin typeface="Arial"/>
              </a:rPr>
              <a:t>  90 rows; impute PayloadMass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55380" y="5001768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80760" y="5157216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Export</a:t>
            </a:r>
            <a:r>
              <a:rPr sz="1100" b="0">
                <a:solidFill>
                  <a:srgbClr val="262626"/>
                </a:solidFill>
                <a:latin typeface="Arial"/>
              </a:rPr>
              <a:t>  dataset_part_1.csv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1481328"/>
            <a:ext cx="493776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Request the 9 June 2021 revision of the Wikipedia launch list with requests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Parse the HTML with BeautifulSoup and collect every &lt;table&gt;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Read column names from the header cells of the first launch table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Walk the rows of all launch tables and extract flight no., date, time, booster, site, payload, mass, orbit, customer, launch and landing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074920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Web scraping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394960"/>
            <a:ext cx="4937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0" i="0">
                <a:solidFill>
                  <a:srgbClr val="5B6270"/>
                </a:solidFill>
                <a:latin typeface="Arial"/>
              </a:rPr>
              <a:t>Result: 121 launch records, 11 columns.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481328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requests.get</a:t>
            </a:r>
            <a:r>
              <a:rPr sz="1100" b="0">
                <a:solidFill>
                  <a:srgbClr val="262626"/>
                </a:solidFill>
                <a:latin typeface="Arial"/>
              </a:rPr>
              <a:t>  oldid=1027686922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55380" y="1938528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2093976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BeautifulSoup</a:t>
            </a:r>
            <a:r>
              <a:rPr sz="1100" b="0">
                <a:solidFill>
                  <a:srgbClr val="262626"/>
                </a:solidFill>
                <a:latin typeface="Arial"/>
              </a:rPr>
              <a:t>  html.parser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5380" y="2551176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80760" y="2706624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find_all('table')</a:t>
            </a:r>
            <a:r>
              <a:rPr sz="1100" b="0">
                <a:solidFill>
                  <a:srgbClr val="262626"/>
                </a:solidFill>
                <a:latin typeface="Arial"/>
              </a:rPr>
              <a:t>  29 tables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5380" y="3163824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80760" y="3319272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Header cells</a:t>
            </a:r>
            <a:r>
              <a:rPr sz="1100" b="0">
                <a:solidFill>
                  <a:srgbClr val="262626"/>
                </a:solidFill>
                <a:latin typeface="Arial"/>
              </a:rPr>
              <a:t>  extract_column_from_header()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55380" y="3776472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80760" y="393192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Row loop</a:t>
            </a:r>
            <a:r>
              <a:rPr sz="1100" b="0">
                <a:solidFill>
                  <a:srgbClr val="262626"/>
                </a:solidFill>
                <a:latin typeface="Arial"/>
              </a:rPr>
              <a:t>  9 launch tables → launch_dict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55380" y="4389120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80760" y="4544568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pd.DataFrame</a:t>
            </a:r>
            <a:r>
              <a:rPr sz="1100" b="0">
                <a:solidFill>
                  <a:srgbClr val="262626"/>
                </a:solidFill>
                <a:latin typeface="Arial"/>
              </a:rPr>
              <a:t>  121 × 11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55380" y="5001768"/>
            <a:ext cx="0" cy="155448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80760" y="5157216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49CB"/>
                </a:solidFill>
                <a:latin typeface="Arial"/>
              </a:rPr>
              <a:t>Export</a:t>
            </a:r>
            <a:r>
              <a:rPr sz="1100" b="0">
                <a:solidFill>
                  <a:srgbClr val="262626"/>
                </a:solidFill>
                <a:latin typeface="Arial"/>
              </a:rPr>
              <a:t>  spacex_web_scraped.csv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481328"/>
            <a:ext cx="1562100" cy="109728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Load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dataset_part_1.csv
90 ×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0196" y="2029968"/>
            <a:ext cx="256032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6228" y="1481328"/>
            <a:ext cx="15621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Profile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missing values, dtypes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48327" y="2029968"/>
            <a:ext cx="256033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04360" y="1481328"/>
            <a:ext cx="1562100" cy="109728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Count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launches per site and orbit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59" y="2029968"/>
            <a:ext cx="256033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1481328"/>
            <a:ext cx="15621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Outcomes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8 landing outcome types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84592" y="2029968"/>
            <a:ext cx="256032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0624" y="1481328"/>
            <a:ext cx="1562100" cy="109728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Label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Class = 0 /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2724" y="2029968"/>
            <a:ext cx="256032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58756" y="1481328"/>
            <a:ext cx="15621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Export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dataset_part_2.csv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" y="2880360"/>
          <a:ext cx="6126480" cy="26334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29260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True ASDS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landed on a drone ship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True RTLS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landed on a ground pad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True Ocean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controlled ocean landing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None None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no landing attempt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False ASDS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drone-ship landing failed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False Ocean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ocean landing failed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None ASDS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drone ship, no attempt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False RTLS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ground-pad landing failed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178040" y="2880360"/>
            <a:ext cx="425196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LandingPad is the only column with gaps (28.9%) — a gap means no pad was used.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Every outcome that is a failure or no attempt becomes Class 0; landings become Class 1.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62626"/>
                </a:solidFill>
                <a:latin typeface="Arial"/>
              </a:rPr>
              <a:t>Overall success rate: 66.7% (60 of 90).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5623560"/>
            <a:ext cx="4251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Data wrangling notebook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481328"/>
          <a:ext cx="10652760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2011680"/>
                <a:gridCol w="53492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Flight number vs. launch 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Scatter (catplot)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Does experience at a site change outcomes?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Payload mass vs. launch 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Scatter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Which sites handle heavy payloads, and how well?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Success rate by orbit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Bar chart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Compare success across orbit types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Flight number vs. orbit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Scatter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Does experience matter differently per orbit?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Payload mass vs. orbit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Scatter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Payload/orbit combinations that succeed or fail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Yearly success rate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Line chart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Trend of landing success over time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4343400"/>
            <a:ext cx="106527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Feature engineering: selected 12 features and one-hot encoded Orbit, LaunchSite, LandingPad and Serial with get_dummies, then cast everything to float64 (90 × 80) for the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4406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EDA with data visualization notebook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6" y="1435608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Arial"/>
              </a:rPr>
              <a:t>Loaded Spacex.csv into SQLite (SPACEXTABLE) and ran these queries with %sql: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92808"/>
            <a:ext cx="52578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Unique launch sites (SELECT DISTINCT)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5 records for sites beginning with 'CCA' (LIKE, LIMIT)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Total payload for NASA (CRS) (SUM)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Average payload of booster F9 v1.1 (AVG)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Date of the first ground-pad landing (MIN)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92808"/>
            <a:ext cx="52578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Drone-ship landings with 4,000–6,000 kg payload (AND, ranges)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Successful vs. failed mission outcomes (GROUP BY, COUNT)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Boosters that carried the maximum payload (subquery with MAX)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2015 drone-ship failures by month (substr)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Landing outcomes ranked, 2010-06-04 to 2017-03-20 (BETWEEN, ORDER BY)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44068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EDA with SQL notebook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481328"/>
          <a:ext cx="106527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3566160"/>
                <a:gridCol w="4709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Object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shows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Circle + text label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Each launch site (orange)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See where sites are relative to coasts and the Equator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MarkerCluster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All 56 launches, grouped per 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Many launches share one coordinate; clusters keep the map readable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Marker (green / red)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One per launch, coloured by outcome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Compare success rates between sites at a glance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MousePosition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Lat/long under the cursor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Read coordinates of nearby coastline, rail, roads, towns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PolyLine + distance label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Site → coastline, railway, highway, city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Measure how close sites are to infrastructure and people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4572000"/>
            <a:ext cx="10652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Distances were computed with the Haversine formula (calculate_distance) from coordinates read off the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44068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Folium map notebook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481328"/>
          <a:ext cx="1065276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/>
                <a:gridCol w="3840480"/>
                <a:gridCol w="379476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Shows / controls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Dropdown (site-dropdown)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All sites or one of 4 sites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Switch between the overall picture and a single 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Pie chart (success-pie-chart)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All sites: share of successes per site
One site: success vs. failure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Find the sites with the most and the highest-rate successes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RangeSlider (payload-slider)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Payload 0 – 10,000 kg, 1,000 kg steps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Isolate payload ranges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Scatter (success-payload-scatter-chart)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Payload vs. outcome, coloured by booster version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See how payload and booster version relate to 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443484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Two callbacks connect the inputs to the charts: the dropdown drives the pie chart, and the dropdown plus the slider drive the scatter plot.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44068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Plotly Dash app (spacex_dash_app.py)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562100" cy="118872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Prepare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Y = Class
X = 80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0196" y="2075688"/>
            <a:ext cx="256032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86228" y="1481328"/>
            <a:ext cx="15621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Standardise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StandardScaler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48327" y="2075688"/>
            <a:ext cx="256033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04360" y="1481328"/>
            <a:ext cx="1562100" cy="118872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Split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80/20, random_state=2
72 train / 18 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6459" y="2075688"/>
            <a:ext cx="256033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22492" y="1481328"/>
            <a:ext cx="15621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Tune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GridSearchCV, cv=10
4 models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84592" y="2075688"/>
            <a:ext cx="256032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0624" y="1481328"/>
            <a:ext cx="1562100" cy="118872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Evaluate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test accuracy,
confusion matrix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2724" y="2075688"/>
            <a:ext cx="256032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58756" y="1481328"/>
            <a:ext cx="15621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B49CB"/>
                </a:solidFill>
                <a:latin typeface="Arial"/>
              </a:rPr>
              <a:t>Select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best test + CV score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68096" y="2971800"/>
          <a:ext cx="106527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7909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Hyper-parameters searched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 ∈ {0.01, 0.1, 1}, L2, lbfgs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Support Vector Machine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kernel (linear, rbf, poly, sigmoid), C and gamma ∈ logspace(-3, 3, 5)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criterion, splitter, max_depth 2–18, max_features, min_samples_leaf/split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K-Nearest Neighbors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n_neighbors 1–10, algorithm, p ∈ {1, 2}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" y="544068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GitHub: </a:t>
            </a:r>
            <a:r>
              <a:rPr sz="1200" b="0" i="0" u="sng">
                <a:solidFill>
                  <a:srgbClr val="0B49CB"/>
                </a:solidFill>
                <a:latin typeface="Arial"/>
                <a:hlinkClick r:id="rId3"/>
              </a:rPr>
              <a:t>Machine learning prediction notebook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8096" y="1481328"/>
            <a:ext cx="3383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1645920"/>
            <a:ext cx="3063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B49CB"/>
                </a:solidFill>
                <a:latin typeface="Arial"/>
              </a:rPr>
              <a:t>Exploratory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306324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Success climbs with experience: 25% for flights 1–20 vs. 83% for flights 61–90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KSC LC-39A and VAFB SLC-4E reach 77%; CCAFS SLC-40 60%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SSO/VLEO/LEO high, GTO lowest (52%)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81328"/>
            <a:ext cx="3383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63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B49CB"/>
                </a:solidFill>
                <a:latin typeface="Arial"/>
              </a:rPr>
              <a:t>Interactive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12848"/>
            <a:ext cx="306324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All sites sit within ~1–1.5 km of the ocean and ≥ 20 km from towns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KSC LC-39A: most successes (41.7%) and best ratio (76.9%)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2,000–4,000 kg payloads succeed most; FT boosters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81328"/>
            <a:ext cx="3383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11312" y="1645920"/>
            <a:ext cx="3063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B49CB"/>
                </a:solidFill>
                <a:latin typeface="Arial"/>
              </a:rPr>
              <a:t>Predictive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12848"/>
            <a:ext cx="306324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All 4 tuned models: 83.3% on the test set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Decision Tree best in cross-validation (87.7%)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Errors are failed landings predicted as landed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 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eda_fligh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418" y="1481328"/>
            <a:ext cx="8752114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681728"/>
            <a:ext cx="10652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CCAFS SLC 40 carries most flights (55 of 90), including nearly all early failures.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Later flights succeed far more often at every site: 25% for flights 1–20 vs. 83% for flights 61–90.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KSC LC 39A is used from flight 27 onward and has the highest success rate (77%).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6" name="Picture 5" descr="eda_payload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418" y="1481328"/>
            <a:ext cx="8752114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681728"/>
            <a:ext cx="10652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VAFB SLC 4E never flew more than 9,600 kg; payloads above 10,000 kg flew only from the Florida sites.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Heavy payloads landed well: 87% success above 8,000 kg vs. 50–70% for lighter ones.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For light and medium payloads the classes overlap, so payload alone does not decide the outcome.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eda_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1481328"/>
            <a:ext cx="822960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773168"/>
            <a:ext cx="10652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SSO is the most convincing perfect record (5 of 5); ES-L1, GEO and HEO are 100% but only 1 launch each.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VLEO (86%, 14 launches) and LEO (71%) are also strong.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GTO is the hardest common orbit (52% of 27 launches); the single SO launch failed.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eda_flight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952" y="1481328"/>
            <a:ext cx="7491046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864608"/>
            <a:ext cx="10652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In LEO, success follows the flight number — early LEO flights failed, later ones landed.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VLEO launches only start after flight 65 and almost all landed.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GTO outcomes stay mixed across the whole range of flight numbers.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eda_payload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952" y="1481328"/>
            <a:ext cx="7491046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864608"/>
            <a:ext cx="10652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Heavy payloads to Polar, LEO and ISS orbits land successfully more often.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GTO payloads sit in a narrow 3,000–7,100 kg band where successes and failures overlap.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VLEO missions (Starlink) carry the heaviest payloads (~15,600 kg) and mostly succeed.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pic>
        <p:nvPicPr>
          <p:cNvPr id="6" name="Picture 5" descr="eda_year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1481328"/>
            <a:ext cx="822960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773168"/>
            <a:ext cx="106527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No landing succeeded before 2014.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The success rate climbs from 33% (2014–15) to 62% (2016) and 83% (2017).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After a dip in 2018 (61%) it reaches 90% in 2019 and 84% in 2020.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5212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%sql SELECT DISTINCT "Launch_Site" FROM SPACEXTABLE;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276856"/>
          <a:ext cx="27432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Launch_Site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VAFB SLC-4E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KSC LC-39A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CCAFS SLC-40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77056" y="2276856"/>
            <a:ext cx="7552944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SpaceX has used four launch sites: three in Florida (Cape Canaveral and Kennedy Space Center) and one in California (Vandenberg).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DISTINCT removes the repeats across 101 launch records.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5212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%sql SELECT * FROM SPACEXTABLE WHERE "Launch_Site" LIKE 'CCA%' LIMIT 5;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276856"/>
          <a:ext cx="10652760" cy="1975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120"/>
                <a:gridCol w="548640"/>
                <a:gridCol w="1234440"/>
                <a:gridCol w="1051560"/>
                <a:gridCol w="1920240"/>
                <a:gridCol w="457200"/>
                <a:gridCol w="777240"/>
                <a:gridCol w="1325880"/>
                <a:gridCol w="731520"/>
                <a:gridCol w="164592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Booster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Payload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Orbit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2010-06-04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18:45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F9 v1.0 B0003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Dragon Qualification Unit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LEO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SpaceX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Failure (parachute)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2010-12-08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15:43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F9 v1.0 B0004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Dragon demo flight C1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LEO (ISS)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NASA (COTS) NRO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Failure (parachute)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2012-05-22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7:44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F9 v1.0 B0005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Dragon demo flight C2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LEO (ISS)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NASA (COTS)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2012-10-08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0:35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F9 v1.0 B0006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SpaceX CRS-1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LEO (ISS)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NASA (CRS)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2013-03-01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15:10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F9 v1.0 B0007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SpaceX CRS-2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LEO (ISS)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NASA (CRS)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Arial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" y="4434840"/>
            <a:ext cx="106527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The first five Cape Canaveral launches were early F9 v1.0 Dragon missions to LEO/ISS: every mission succeeded, but no first stage was recovered (parachute failures or no attempt).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8138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%sql SELECT SUM("PAYLOAD_MASS__KG_") AS "Total_Payload_Mass_kg"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     FROM SPACEXTABLE WHERE "Customer" = 'NASA (CRS)';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569464"/>
          <a:ext cx="292608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Total_Payload_Mass_kg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45,596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59936" y="2569464"/>
            <a:ext cx="7370063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Boosters flying NASA's Commercial Resupply Services (CRS) missions carried 45,596 kg in total.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Only rows whose customer is exactly 'NASA (CRS)' are counted.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8138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%sql SELECT AVG("PAYLOAD_MASS__KG_") AS "Avg_Payload_Mass_kg"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     FROM SPACEXTABLE WHERE "Booster_Version" = 'F9 v1.1';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569464"/>
          <a:ext cx="292608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Avg_Payload_Mass_kg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2,928.4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59936" y="2569464"/>
            <a:ext cx="7370063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The F9 v1.1 booster carried 2,928.4 kg on average — far less than later Block 5 boosters (up to 15,600 kg).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8138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%sql SELECT MIN("Date") AS "First_Successful_Ground_Pad_Landing"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     FROM SPACEXTABLE WHERE "Landing_Outcome" = 'Success (ground pad)';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569464"/>
          <a:ext cx="46634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First_Successful_Ground_Pad_Landing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2015-12-22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97296" y="2569464"/>
            <a:ext cx="5632704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The first successful ground-pad (RTLS) landing happened on 22 December 2015, five and a half years after the first Falcon 9 flight.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481328"/>
            <a:ext cx="10652760" cy="1399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%%sql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SELECT DISTINCT "Booster_Version" FROM SPACEXTABLE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WHERE "Landing_Outcome" = 'Success (drone ship)'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  AND "PAYLOAD_MASS__KG_" &gt; 4000 AND "PAYLOAD_MASS__KG_" &lt; 6000;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8096" y="3154680"/>
          <a:ext cx="274320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Booster_Version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F9 FT B1022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F9 FT B1026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F9 FT B1021.2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F9 FT B1031.2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77056" y="3154680"/>
            <a:ext cx="7552944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Four Full Thrust (FT) boosters landed on a drone ship with a 4,000–6,000 kg payload.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Two of them (B1021.2, B1031.2) were already re-flown boosters.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 Mission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110642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%%sql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SELECT TRIM("Mission_Outcome") AS "Mission_Outcome", COUNT(*) AS "Total"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FROM SPACEXTABLE GROUP BY TRIM("Mission_Outcome");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862072"/>
          <a:ext cx="4206240" cy="153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9144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Mission_Outcome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Failure (in flight)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Success (payload status unclear)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40096" y="2862072"/>
            <a:ext cx="6089904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100 of 101 missions succeeded; only one failed in flight.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TRIM merges a 'Success ' value that has a trailing space in the raw data.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Mission success ≠ landing success: the payload reaching orbit says nothing about the first stage.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110642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%%sql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SELECT DISTINCT "Booster_Version" FROM SPACEXTABLE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WHERE "PAYLOAD_MASS__KG_" = (SELECT MAX("PAYLOAD_MASS__KG_") FROM SPACEXTABLE);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2862072"/>
          <a:ext cx="4846320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25603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Booster_Version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Booster_Version (cont.)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B1048.4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B1049.5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B1049.4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B1060.2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B1051.3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B1058.3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B1056.4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B1051.6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B1048.5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B1060.3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B1051.4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B5 B1049.7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80176" y="2862072"/>
            <a:ext cx="5449824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12 Block 5 boosters carried the maximum payload (15,600 kg — Starlink batches).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All are re-flown boosters (suffix .2 to .7), showing how far reuse had come by 2020.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1399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%%sql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SELECT substr("Date", 6, 2) AS "Month", "Landing_Outcome", "Booster_Version", "Launch_Site"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FROM SPACEXTABLE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WHERE substr("Date", 0, 5) = '2015' AND "Landing_Outcome" = 'Failure (drone ship)';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3154680"/>
          <a:ext cx="6675120" cy="1152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"/>
                <a:gridCol w="2194560"/>
                <a:gridCol w="2011680"/>
                <a:gridCol w="16459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Month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Landing_Outcome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Booster_Version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Launch_Site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Failure (drone ship)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v1.1 B1012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Failure (drone ship)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F9 v1.1 B1015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08976" y="3154680"/>
            <a:ext cx="3621023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Both 2015 drone-ship failures (January and April) were F9 v1.1 boosters launched from CCAFS LC-40 — the first attempts at landing on a ship.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81328"/>
            <a:ext cx="10652760" cy="1399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%%sql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SELECT "Landing_Outcome", COUNT(*) AS "Outcome_Count" FROM SPACEXTABLE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WHERE "Date" BETWEEN '2010-06-04' AND '2017-03-20'</a:t>
            </a:r>
          </a:p>
          <a:p>
            <a:pPr algn="l"/>
            <a:r>
              <a:rPr sz="1300">
                <a:solidFill>
                  <a:srgbClr val="E5ECF6"/>
                </a:solidFill>
                <a:latin typeface="Courier New"/>
              </a:rPr>
              <a:t>GROUP BY "Landing_Outcome" ORDER BY "Outcome_Count" DESC;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3154680"/>
          <a:ext cx="4297680" cy="26334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155448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Landing_Outcome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Outcome_Count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Success (drone ship)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Failure (drone ship)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Success (ground pad)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Controlled (ocean)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Uncontrolled (ocean)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Failure (parachute)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Precluded (drone ship)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31536" y="3154680"/>
            <a:ext cx="5998464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In this early period 'No attempt' was most common (10).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Drone-ship landings were a coin flip (5 successes, 5 failures) and there were 3 ground-pad successes — 8 successful landings out of 31 launches.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Sites on a Map</a:t>
            </a:r>
          </a:p>
        </p:txBody>
      </p:sp>
      <p:pic>
        <p:nvPicPr>
          <p:cNvPr id="4" name="Picture 3" descr="folium_sites_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95" y="1481328"/>
            <a:ext cx="6352321" cy="434340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763256" y="1481328"/>
            <a:ext cx="3666744" cy="4343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Orange circles mark the four launch sites: VAFB SLC-4E in California and CCAFS LC-40, CCAFS SLC-40 and KSC LC-39A on Florida's Cape Canaveral.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No site is near the Equator, but the Florida sites (~28.5° N) are the most southerly options in the continental US, which helps eastward launches.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Every site sits on the coast, so rockets fly out over the ocean.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000" b="0" i="0">
                <a:solidFill>
                  <a:srgbClr val="5B6270"/>
                </a:solidFill>
                <a:latin typeface="Arial"/>
              </a:rPr>
              <a:t>Map data 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Outcomes by Site</a:t>
            </a:r>
          </a:p>
        </p:txBody>
      </p:sp>
      <p:pic>
        <p:nvPicPr>
          <p:cNvPr id="9" name="Picture 8" descr="folium_ksc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02" y="1481328"/>
            <a:ext cx="3042427" cy="208026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10" name="Picture 9" descr="folium_ccafs_outco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202" y="3744468"/>
            <a:ext cx="3042427" cy="208026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08775" y="1481328"/>
            <a:ext cx="5221224" cy="4343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Launches are grouped in clusters per site; expanded, each marker is one launch: green = landed, red = did not land.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1" i="0">
                <a:solidFill>
                  <a:srgbClr val="262626"/>
                </a:solidFill>
                <a:latin typeface="Arial"/>
              </a:rPr>
              <a:t>Top – KSC LC-39A: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10 of 13 green (77%), the best ratio.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1" i="0">
                <a:solidFill>
                  <a:srgbClr val="262626"/>
                </a:solidFill>
                <a:latin typeface="Arial"/>
              </a:rPr>
              <a:t>Bottom – CCAFS LC-40 + SLC-40 (shared cluster):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10 of 33 green; the early, mostly failed flights flew from here.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VAFB SLC-4E: 4 of 10 landed (40%).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000" b="0" i="0">
                <a:solidFill>
                  <a:srgbClr val="5B6270"/>
                </a:solidFill>
                <a:latin typeface="Arial"/>
              </a:rPr>
              <a:t>Map data 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CCAFS SLC-40 and Its Proximities</a:t>
            </a:r>
          </a:p>
        </p:txBody>
      </p:sp>
      <p:pic>
        <p:nvPicPr>
          <p:cNvPr id="9" name="Picture 8" descr="folium_proximity_sl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96015"/>
            <a:ext cx="6309360" cy="4314024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60920" y="1435608"/>
            <a:ext cx="406908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262626"/>
                </a:solidFill>
                <a:latin typeface="Arial"/>
              </a:rPr>
              <a:t>Coastline 0.87 km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– Atlantic beside the pad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262626"/>
                </a:solidFill>
                <a:latin typeface="Arial"/>
              </a:rPr>
              <a:t>Railway 1.17 km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– NASA Railroad (plus the pad's own spur)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262626"/>
                </a:solidFill>
                <a:latin typeface="Arial"/>
              </a:rPr>
              <a:t>Highway 6.51 km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– NASA Parkway East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262626"/>
                </a:solidFill>
                <a:latin typeface="Arial"/>
              </a:rPr>
              <a:t>City 19.67 km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– Cape Canaveral town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1" i="0">
                <a:solidFill>
                  <a:srgbClr val="0B49CB"/>
                </a:solidFill>
                <a:latin typeface="Arial"/>
              </a:rPr>
              <a:t>Close to the sea and to rail, but kept well away from people.</a:t>
            </a:r>
          </a:p>
        </p:txBody>
      </p:sp>
      <p:pic>
        <p:nvPicPr>
          <p:cNvPr id="11" name="Picture 10" descr="folium_proximity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829" y="3611880"/>
            <a:ext cx="2875261" cy="196596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360920" y="5596128"/>
            <a:ext cx="4069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900" b="0" i="0">
                <a:solidFill>
                  <a:srgbClr val="5B6270"/>
                </a:solidFill>
                <a:latin typeface="Arial"/>
              </a:rPr>
              <a:t>Left: pad close-up. Right: lines to highway and town. Map data 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Successful Launches by Site</a:t>
            </a:r>
          </a:p>
        </p:txBody>
      </p:sp>
      <p:pic>
        <p:nvPicPr>
          <p:cNvPr id="9" name="Picture 8" descr="dash_pi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97205"/>
            <a:ext cx="6217920" cy="3511644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06055" y="1481328"/>
            <a:ext cx="4123944" cy="4343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With 'All Sites' selected, the pie shows each site's share of all successful landings.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KSC LC-39A has the most successes (41.7%, 10 landings), followed by CCAFS LC-40 (29.2%), VAFB SLC-4E (16.7%) and CCAFS SLC-40 (12.5%).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24 successful landings in total in the dashboard data (56 launches).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KSC LC-39A: Highest Launch Success Ratio</a:t>
            </a:r>
          </a:p>
        </p:txBody>
      </p:sp>
      <p:pic>
        <p:nvPicPr>
          <p:cNvPr id="9" name="Picture 8" descr="dash_pie_k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113352"/>
            <a:ext cx="6217920" cy="307935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06055" y="1481328"/>
            <a:ext cx="4123944" cy="4343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Selecting KSC LC-39A shows its own success vs. failure split.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76.9% of its launches landed (10 of 13) — the best ratio of any site.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For comparison: CCAFS SLC-40 43%, VAFB SLC-4E 40%, CCAFS LC-40 27%.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68096" y="539496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Outcome for All Sites</a:t>
            </a:r>
          </a:p>
        </p:txBody>
      </p:sp>
      <p:pic>
        <p:nvPicPr>
          <p:cNvPr id="13" name="Picture 12" descr="dash_scatter_0_5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85246"/>
            <a:ext cx="5212080" cy="2506762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14" name="Picture 13" descr="dash_scatter_5000_1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85246"/>
            <a:ext cx="5212080" cy="2506762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68096" y="4041648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Slider 0 – 5,000 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41648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200" b="1" i="0">
                <a:solidFill>
                  <a:srgbClr val="5B6270"/>
                </a:solidFill>
                <a:latin typeface="Arial"/>
              </a:rPr>
              <a:t>Slider 5,000 – 10,000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453128"/>
            <a:ext cx="106527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2,000–4,000 kg has the highest success rate (62%); 6,000–8,000 kg the lowest (0 of 4), with 0–2,000 kg also weak (23%).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By booster version, FT is the best version with a real sample (67% of 24); v1.0 (0 of 5) and v1.1 (1 of 15) rarely landed. B5 is 1 of 1.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Light and heavy payloads both fail with old boosters — booster version matters more than payload.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68096" y="1481328"/>
          <a:ext cx="66751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26679" y="1481328"/>
            <a:ext cx="370332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All four tuned models reach the same 83.3% accuracy on the 18-launch test set (15 correct).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Arial"/>
              </a:rPr>
              <a:t>The tie is broken by cross-validation: the Decision Tree scores 87.7%, ahead of SVM and KNN (84.8%) and Logistic Regression (84.6%).</a:t>
            </a:r>
          </a:p>
          <a:p>
            <a:pPr marL="201168" indent="-182880" algn="l">
              <a:spcAft>
                <a:spcPts val="1000"/>
              </a:spcAft>
              <a:buFont typeface="Arial"/>
              <a:buChar char="•"/>
            </a:pPr>
            <a:r>
              <a:rPr sz="1400" b="1" i="0">
                <a:solidFill>
                  <a:srgbClr val="0B49CB"/>
                </a:solidFill>
                <a:latin typeface="Arial"/>
              </a:rPr>
              <a:t>Best model: Decision Tree</a:t>
            </a:r>
          </a:p>
          <a:p>
            <a:pPr marL="429768" indent="-182880" algn="l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5B6270"/>
                </a:solidFill>
                <a:latin typeface="Arial"/>
              </a:rPr>
              <a:t>gini, max_depth 8, max_features sqrt, min_samples_leaf 2, min_samples_split 10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ml_confu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82802"/>
            <a:ext cx="5120640" cy="4294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1572768"/>
            <a:ext cx="5029200" cy="4114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400" b="1" i="0">
                <a:solidFill>
                  <a:srgbClr val="262626"/>
                </a:solidFill>
                <a:latin typeface="Arial"/>
              </a:rPr>
              <a:t>Decision Tree on the 18 test launches:</a:t>
            </a:r>
          </a:p>
          <a:p>
            <a:pPr marL="201168" indent="-18288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F9D55"/>
                </a:solidFill>
                <a:latin typeface="Arial"/>
              </a:rPr>
              <a:t>12 true positives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— every landing was predicted correctly.</a:t>
            </a:r>
          </a:p>
          <a:p>
            <a:pPr marL="201168" indent="-18288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F9D55"/>
                </a:solidFill>
                <a:latin typeface="Arial"/>
              </a:rPr>
              <a:t>3 true negatives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— failed landings correctly flagged.</a:t>
            </a:r>
          </a:p>
          <a:p>
            <a:pPr marL="201168" indent="-18288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D64545"/>
                </a:solidFill>
                <a:latin typeface="Arial"/>
              </a:rPr>
              <a:t>3 false positives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— failed landings predicted as landed.</a:t>
            </a:r>
          </a:p>
          <a:p>
            <a:pPr marL="201168" indent="-182880" algn="l">
              <a:spcAft>
                <a:spcPts val="1400"/>
              </a:spcAft>
              <a:buFont typeface="Arial"/>
              <a:buChar char="•"/>
            </a:pPr>
            <a:r>
              <a:rPr sz="1400" b="1" i="0">
                <a:solidFill>
                  <a:srgbClr val="262626"/>
                </a:solidFill>
                <a:latin typeface="Arial"/>
              </a:rPr>
              <a:t>0 false negatives.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</a:rPr>
              <a:t>The model is optimistic: it never misses a landing but over-predicts success for half of the failures. The other three models make exactly the same errors.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8096" y="1481328"/>
            <a:ext cx="106527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Experience pays off   </a:t>
            </a:r>
            <a:r>
              <a:rPr sz="1400" b="0">
                <a:solidFill>
                  <a:srgbClr val="262626"/>
                </a:solidFill>
                <a:latin typeface="Arial"/>
              </a:rPr>
              <a:t>Landing success rose from 0% before 2014 to 84–90% in 2019–2020; later flights land far more often.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185416"/>
            <a:ext cx="106527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Site matters   </a:t>
            </a:r>
            <a:r>
              <a:rPr sz="1400" b="0">
                <a:solidFill>
                  <a:srgbClr val="262626"/>
                </a:solidFill>
                <a:latin typeface="Arial"/>
              </a:rPr>
              <a:t>KSC LC-39A has the most successful landings and the best ratio (77%).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889504"/>
            <a:ext cx="106527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Orbit and payload matter   </a:t>
            </a:r>
            <a:r>
              <a:rPr sz="1400" b="0">
                <a:solidFill>
                  <a:srgbClr val="262626"/>
                </a:solidFill>
                <a:latin typeface="Arial"/>
              </a:rPr>
              <a:t>SSO, VLEO and LEO missions land most often; GTO is the hardest. Heavy payloads to LEO/Polar/ISS land well.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593592"/>
            <a:ext cx="106527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Booster version matters   </a:t>
            </a:r>
            <a:r>
              <a:rPr sz="1400" b="0">
                <a:solidFill>
                  <a:srgbClr val="262626"/>
                </a:solidFill>
                <a:latin typeface="Arial"/>
              </a:rPr>
              <a:t>Full Thrust and Block 5 boosters land; v1.0 and v1.1 rarely did.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4297680"/>
            <a:ext cx="106527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Location   </a:t>
            </a:r>
            <a:r>
              <a:rPr sz="1400" b="0">
                <a:solidFill>
                  <a:srgbClr val="262626"/>
                </a:solidFill>
                <a:latin typeface="Arial"/>
              </a:rPr>
              <a:t>All sites are coastal, close to rail, and ≥ 20 km from towns.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5001768"/>
            <a:ext cx="106527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49CB"/>
                </a:solidFill>
                <a:latin typeface="Arial"/>
              </a:rPr>
              <a:t>Prediction   </a:t>
            </a:r>
            <a:r>
              <a:rPr sz="1400" b="0">
                <a:solidFill>
                  <a:srgbClr val="262626"/>
                </a:solidFill>
                <a:latin typeface="Arial"/>
              </a:rPr>
              <a:t>A tuned Decision Tree predicts landings with 83% test accuracy (88% CV) — good enough to support Space Y's bid pricing, though it over-predicts success.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8096" y="1481328"/>
          <a:ext cx="10652760" cy="2715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0"/>
                <a:gridCol w="425196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File (GitHub)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0B49C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4"/>
                        </a:rPr>
                        <a:t>jupyter-labs-spacex-data-collection-api-v2.ipynb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Data collection – SpaceX API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5"/>
                        </a:rPr>
                        <a:t>jupyter-labs-webscraping.ipynb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Data collection – web scraping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6"/>
                        </a:rPr>
                        <a:t>labs-jupyter-spacex-Data wrangling-v2.ipynb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Data wrangling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7"/>
                        </a:rPr>
                        <a:t>jupyter-labs-eda-sql-coursera_sqllite.ipynb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EDA with SQL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8"/>
                        </a:rPr>
                        <a:t>jupyter-labs-eda-dataviz-v2.ipynb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EDA with visualization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9"/>
                        </a:rPr>
                        <a:t>lab-jupyter-launch-site-location-v2.ipynb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Interactive map with Folium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10"/>
                        </a:rPr>
                        <a:t>spacex_dash_app.py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Plotly Dash dashboard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49CB"/>
                          </a:solidFill>
                          <a:latin typeface="Arial"/>
                          <a:hlinkClick r:id="rId11"/>
                        </a:rPr>
                        <a:t>SpaceX-Machine-Learning-Prediction-Part-5-v1.ipynb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Machine learning prediction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5DCE8"/>
                      </a:solidFill>
                    </a:lnL>
                    <a:lnR w="6350">
                      <a:solidFill>
                        <a:srgbClr val="D5DCE8"/>
                      </a:solidFill>
                    </a:lnR>
                    <a:lnT w="6350">
                      <a:solidFill>
                        <a:srgbClr val="D5DCE8"/>
                      </a:solidFill>
                    </a:lnT>
                    <a:lnB w="6350">
                      <a:solidFill>
                        <a:srgbClr val="D5DCE8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8096" y="4407408"/>
            <a:ext cx="106527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 i="0">
                <a:solidFill>
                  <a:srgbClr val="0B49CB"/>
                </a:solidFill>
                <a:latin typeface="Arial"/>
              </a:rPr>
              <a:t>Execution notes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Arial"/>
              </a:rPr>
              <a:t>The public SpaceX API (api.spacexdata.com) was offline (HTTP 522) in October 2026, so the API notebook's per-ID lookups were served from IBM's archived copies of the same API responses; the output reproduces IBM's dataset_part_1.csv exactly.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Arial"/>
              </a:rPr>
              <a:t>Scikit-learn 1.3+ removed max_features='auto'; the Decision Tree grid uses 'sqrt' and 'log2' instead.</a:t>
            </a:r>
          </a:p>
          <a:p>
            <a:pPr marL="201168" indent="-182880" algn="l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Arial"/>
              </a:rPr>
              <a:t>Repository: https://github.com/marcosroquerosa/ibm-data-science-capstone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